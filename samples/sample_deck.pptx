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1808480"/>
            <a:ext cx="10362895" cy="11176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Critical Review: An Empirical Analysis of International Labour Migration in the Philippines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24247" y="3154680"/>
            <a:ext cx="27432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914400" y="3474720"/>
            <a:ext cx="10362895" cy="26517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Agbola, F. W. &amp; Acupan, A. B. (2010)</a:t>
            </a:r>
          </a:p>
          <a:p>
            <a:pPr algn="ctr">
              <a:spcAft>
                <a:spcPts val="1400"/>
              </a:spcAft>
            </a:pPr>
            <a:r>
              <a:rPr sz="2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Economic Systems</a:t>
            </a:r>
            <a:r>
              <a:rPr sz="20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34, 386–396</a:t>
            </a:r>
          </a:p>
          <a:p>
            <a:pPr algn="ctr"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Prepared by: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Lian Cataytay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article at a glance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study asks which push factors in the Philippines lead Filipinos to emigrate.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631EC663-3EC0-4F11-A9C0-C2BA8E43C61D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</a:t>
            </a:fld>
          </a:p>
        </p:txBody>
      </p:sp>
      <p:sp>
        <p:nvSpPr>
          <p:cNvPr id="7" name="Why it matters"/>
          <p:cNvSpPr txBox="1"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it matters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8.2 million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Filipinos live or work in more than 193 countries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US$14.4 billion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remittances (money sent home) in 2007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Philippines has the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third-largest diaspora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the world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Emigration is now a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permanent part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of the economy</a:t>
            </a:r>
          </a:p>
        </p:txBody>
      </p:sp>
      <p:sp>
        <p:nvSpPr>
          <p:cNvPr id="8" name="About the article box"/>
          <p:cNvSpPr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About the article"/>
          <p:cNvSpPr txBox="1"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About the article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Authors: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Frank W. Agbola and Angelito B. Acupan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Journal: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Economic Systems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(Elsevier), 2010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yearly national data, 1975–2005 (31 years)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Method: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error correction model (ECM)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Type: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quantitative, time-series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terms used in this review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term keeps the same meaning on every slide.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00DB6F02-ED90-4658-B977-B0ED1CE155BF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3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4" cy="369417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641527"/>
                <a:gridCol w="8452887"/>
              </a:tblGrid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Term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Emigration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People leaving the Philippines to live or work abroad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Migration share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Filipino migrants as a share of the population; what the study explains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Push / pull factor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condition at home that pushes people out / a condition abroad that pulls them 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Proxy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stand-in measure for something that cannot be measured directly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Stationary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that move around a stable average; checked with a unit root test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Cointegration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series that drift over time but still move together in the long run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ECM and ECT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Error correction model; its error correction term shows how fast data return to the long-run path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Statistically 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Unlikely to be due to chance (here, at the 5% level)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Research problem and gap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Emigration became permanent, but its causes were “not well established.”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B24C614B-F144-4199-A814-D69B9ACDB4C0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4</a:t>
            </a:fld>
          </a:p>
        </p:txBody>
      </p:sp>
      <p:sp>
        <p:nvSpPr>
          <p:cNvPr id="7" name="The problem"/>
          <p:cNvSpPr txBox="1"/>
          <p:nvPr/>
        </p:nvSpPr>
        <p:spPr>
          <a:xfrm>
            <a:off x="548640" y="1737360"/>
            <a:ext cx="5387187" cy="33741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problem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the 1970s, sending workers abroad began as a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short-term fix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unemployment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 became a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permanent part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of the economy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law is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unclear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RA 8042 says the State “does not promote” overseas work, but deployment “shall be encouraged”</a:t>
            </a:r>
          </a:p>
        </p:txBody>
      </p:sp>
      <p:sp>
        <p:nvSpPr>
          <p:cNvPr id="8" name="The gap"/>
          <p:cNvSpPr txBox="1"/>
          <p:nvPr/>
        </p:nvSpPr>
        <p:spPr>
          <a:xfrm>
            <a:off x="6255867" y="1737360"/>
            <a:ext cx="5387187" cy="33741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gap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causes of emigration from the Philippines are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well established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Policymakers need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evidence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 which push factors matter most</a:t>
            </a:r>
          </a:p>
        </p:txBody>
      </p:sp>
      <p:sp>
        <p:nvSpPr>
          <p:cNvPr id="9" name="Callout"/>
          <p:cNvSpPr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 wrap="square" lIns="228600" rIns="228600" tIns="137160" bIns="137160"/>
          <a:lstStyle/>
          <a:p>
            <a:pPr algn="l" marL="0" indent="0"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question: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How do economic, demographic and political factors affect emigration from the Philippines?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Theoretical framework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authors combine four theories into one model of push factors.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47626ABB-839A-42D6-A1C9-EE3D1F1D2A73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5</a:t>
            </a:fld>
          </a:p>
        </p:txBody>
      </p:sp>
      <p:sp>
        <p:nvSpPr>
          <p:cNvPr id="7" name="Text"/>
          <p:cNvSpPr txBox="1"/>
          <p:nvPr/>
        </p:nvSpPr>
        <p:spPr>
          <a:xfrm>
            <a:off x="548640" y="1737360"/>
            <a:ext cx="6285052" cy="34655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Ravenstein (1885); Todaro (1969):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people migrate when they expect a better life abroad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 capital theory (Hicks 1939):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migration is an investment; more educated people migrate more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Roy effect (Borjas 1987):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income inequality decides which skill groups leave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Gravity model (Greenwood 1975):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migration depends on income, population and the cost of migration</a:t>
            </a:r>
          </a:p>
        </p:txBody>
      </p:sp>
      <p:sp>
        <p:nvSpPr>
          <p:cNvPr id="8" name="The model in words box"/>
          <p:cNvSpPr/>
          <p:nvPr/>
        </p:nvSpPr>
        <p:spPr>
          <a:xfrm>
            <a:off x="7153732" y="1737360"/>
            <a:ext cx="4489322" cy="34655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he model in words"/>
          <p:cNvSpPr txBox="1"/>
          <p:nvPr/>
        </p:nvSpPr>
        <p:spPr>
          <a:xfrm>
            <a:off x="7153732" y="1737360"/>
            <a:ext cx="4489322" cy="3465576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model in words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Migration share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(cost of migration, adult literacy, income inequality, income inequality</a:t>
            </a:r>
            <a:r>
              <a:rPr sz="1800" b="0" i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political instability, inflation, population density, unemployment, per capita income)</a:t>
            </a:r>
          </a:p>
        </p:txBody>
      </p:sp>
      <p:sp>
        <p:nvSpPr>
          <p:cNvPr id="10" name="Callout"/>
          <p:cNvSpPr/>
          <p:nvPr/>
        </p:nvSpPr>
        <p:spPr>
          <a:xfrm>
            <a:off x="548640" y="5394960"/>
            <a:ext cx="11094415" cy="82296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 wrap="square" lIns="228600" rIns="228600" tIns="137160" bIns="137160"/>
          <a:lstStyle/>
          <a:p>
            <a:pPr algn="l" marL="0" indent="0"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Critical view: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mix of theories, not one model. Only push factors are used; pull factors from destination countries are left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Data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Yearly national data, 1975–2005: only 31 observations, all secondary data.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726EBE41-F242-425B-94F6-8E97C6B34FE9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2" cy="355701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521457"/>
                <a:gridCol w="5042915"/>
                <a:gridCol w="2185263"/>
                <a:gridCol w="1344777"/>
              </a:tblGrid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 / proxy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Exp. sign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Migration share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Migrants (temporary + permanent) ÷ population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CFO; NSCB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Cost of migration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Average one-way airfare, Manila → top 24 destinations (proxy)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Authors’ estimate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Adult literacy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Adult literacy rate (proxy for education)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BSP; NSCB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Income inequality, inequality</a:t>
                      </a:r>
                      <a:r>
                        <a:rPr sz="14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Gini coefficient and its square (Roy effect)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stated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Political instability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 of leadership changes, coups and uprisings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Gastil (1987)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Inflation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Inflation rate (consumer prices)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IMF; BSP; NSCB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Population density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People per km</a:t>
                      </a:r>
                      <a:r>
                        <a:rPr sz="14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NSCB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Unemployment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Unemployment rate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IMF; BSP; NSCB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5570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 capita income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Real GDP per person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IMF; BSP; NSCB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allout"/>
          <p:cNvSpPr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 wrap="square" lIns="228600" rIns="228600" tIns="137160" bIns="137160"/>
          <a:lstStyle/>
          <a:p>
            <a:pPr algn="l" marL="0" indent="0"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Critical view: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source of the income inequality data is not stated, and the migration share mixes temporary and permanent migrants.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Methodology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standard five-step time-series method, carefully applied.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9F6E0AA0-407F-4057-BA5B-659DECA2CED9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7</a:t>
            </a:fld>
          </a:p>
        </p:txBody>
      </p:sp>
      <p:sp>
        <p:nvSpPr>
          <p:cNvPr id="7" name="Text"/>
          <p:cNvSpPr txBox="1"/>
          <p:nvPr/>
        </p:nvSpPr>
        <p:spPr>
          <a:xfrm>
            <a:off x="548640" y="1737360"/>
            <a:ext cx="11094415" cy="355701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Unit root tests: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ADF and P–P tests show the data become stationary after first differences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Cointegration tests: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Engle–Granger, Johansen and Pesaran tests show the variables move together in the long run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Choosing the model: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general-to-specific; drop terms that are not statistically significant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Estimation: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ECM is estimated by ordinary least squares (OLS) in EViews 6.0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Diagnostic tests: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checks for problems in the model; all passed</a:t>
            </a:r>
          </a:p>
        </p:txBody>
      </p:sp>
      <p:sp>
        <p:nvSpPr>
          <p:cNvPr id="8" name="Callout"/>
          <p:cNvSpPr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 wrap="square" lIns="228600" rIns="228600" tIns="137160" bIns="137160"/>
          <a:lstStyle/>
          <a:p>
            <a:pPr algn="l" marL="0" indent="0"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Watch-out: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Johansen test finds 5–8 long-run relationships, but the ECM keeps only one 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Key findings: the results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Four push factors are statistically significant; the model explains 63% of changes.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D09CC4F0-0CDF-47F4-A941-8A2975609632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8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3" cy="37871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109042"/>
                <a:gridCol w="2054521"/>
                <a:gridCol w="2054521"/>
                <a:gridCol w="2876329"/>
              </a:tblGrid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Explanatory variable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Coefficient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-statistic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Result (5% level)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Unemployment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+0.236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4.629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Adult literacy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−0.659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−5.225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Political instability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−0.482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−3.444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Population density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−0.254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−2.756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Income inequality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−171.195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−1.594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Income inequality</a:t>
                      </a:r>
                      <a:r>
                        <a:rPr sz="14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+165.927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Inflation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−0.036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−1.327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Cost of migration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−0.002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−0.429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7871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 capita income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−0.0002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−0.293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significant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fit: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adjusted R</a:t>
            </a:r>
            <a:r>
              <a:rPr sz="1500" b="0" i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0.63  ·  ECT = −0.776 (78% of any gap closes within a year)  ·  F-statistic = 5.848 (</a:t>
            </a:r>
            <a:r>
              <a:rPr sz="15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0.000)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Source: Agbola and Acupan (2010), Table 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Key findings: four significant push factors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Unemployment raises emigration; three other push factors lower it.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D76D053A-C5D5-4774-AD3F-407350A294F4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9</a:t>
            </a:fld>
          </a:p>
        </p:txBody>
      </p:sp>
      <p:sp>
        <p:nvSpPr>
          <p:cNvPr id="7" name="Unemployment ↑ → emigration ↑ box"/>
          <p:cNvSpPr/>
          <p:nvPr/>
        </p:nvSpPr>
        <p:spPr>
          <a:xfrm>
            <a:off x="548640" y="1737360"/>
            <a:ext cx="5387187" cy="21442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Unemployment ↑ → emigration ↑"/>
          <p:cNvSpPr txBox="1"/>
          <p:nvPr/>
        </p:nvSpPr>
        <p:spPr>
          <a:xfrm>
            <a:off x="548640" y="1737360"/>
            <a:ext cx="5387187" cy="2144268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Unemployment ↑ → emigration ↑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Coefficient +0.236. Emigration is a “safety valve” when there are not enough jobs.</a:t>
            </a:r>
          </a:p>
        </p:txBody>
      </p:sp>
      <p:sp>
        <p:nvSpPr>
          <p:cNvPr id="9" name="Adult literacy ↑ → emigration ↓ box"/>
          <p:cNvSpPr/>
          <p:nvPr/>
        </p:nvSpPr>
        <p:spPr>
          <a:xfrm>
            <a:off x="6255867" y="1737360"/>
            <a:ext cx="5387187" cy="21442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dult literacy ↑ → emigration ↓"/>
          <p:cNvSpPr txBox="1"/>
          <p:nvPr/>
        </p:nvSpPr>
        <p:spPr>
          <a:xfrm>
            <a:off x="6255867" y="1737360"/>
            <a:ext cx="5387187" cy="2144268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Adult literacy ↑ → emigration ↓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Coefficient −0.659. The opposite of human capital theory. The authors say most migrants do low-skilled jobs.</a:t>
            </a:r>
          </a:p>
        </p:txBody>
      </p:sp>
      <p:sp>
        <p:nvSpPr>
          <p:cNvPr id="11" name="Political instability ↑ → emigration ↓ box"/>
          <p:cNvSpPr/>
          <p:nvPr/>
        </p:nvSpPr>
        <p:spPr>
          <a:xfrm>
            <a:off x="548640" y="4073652"/>
            <a:ext cx="5387187" cy="21442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olitical instability ↑ → emigration ↓"/>
          <p:cNvSpPr txBox="1"/>
          <p:nvPr/>
        </p:nvSpPr>
        <p:spPr>
          <a:xfrm>
            <a:off x="548640" y="4073652"/>
            <a:ext cx="5387187" cy="2144268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Political instability ↑ → emigration ↓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Coefficient −0.482. The migration share fell in unstable years (1983, 1986, 2001, 2005).</a:t>
            </a:r>
          </a:p>
        </p:txBody>
      </p:sp>
      <p:sp>
        <p:nvSpPr>
          <p:cNvPr id="13" name="Population density ↑ → emigration ↓ box"/>
          <p:cNvSpPr/>
          <p:nvPr/>
        </p:nvSpPr>
        <p:spPr>
          <a:xfrm>
            <a:off x="6255867" y="4073652"/>
            <a:ext cx="5387187" cy="21442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opulation density ↑ → emigration ↓"/>
          <p:cNvSpPr txBox="1"/>
          <p:nvPr/>
        </p:nvSpPr>
        <p:spPr>
          <a:xfrm>
            <a:off x="6255867" y="4073652"/>
            <a:ext cx="5387187" cy="2144268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Population density ↑ → emigration ↓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Coefficient −0.254. The opposite of what was expected; the authors cannot fully explain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Key findings: other results and conclusions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Income, inflation, migration cost and inequality do not significantly affect emigration.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17FFE9B4-4925-4815-8306-7B8AFF8B0AC6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10</a:t>
            </a:fld>
          </a:p>
        </p:txBody>
      </p:sp>
      <p:sp>
        <p:nvSpPr>
          <p:cNvPr id="7" name="Not statistically significant box"/>
          <p:cNvSpPr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ot statistically significant"/>
          <p:cNvSpPr txBox="1"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statistically significant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Cost of migration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 capita income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negative, as expected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Inflation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negative, as expected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Income inequality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income inequality</a:t>
            </a:r>
            <a:r>
              <a:rPr sz="1800" b="1" i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the Roy effect does not hold for the Philippines</a:t>
            </a:r>
          </a:p>
        </p:txBody>
      </p:sp>
      <p:sp>
        <p:nvSpPr>
          <p:cNvPr id="9" name="The authors’ conclusions box"/>
          <p:cNvSpPr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he authors’ conclusions"/>
          <p:cNvSpPr txBox="1"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authors’ conclusions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Main push factors: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unemployment, adult literacy, political instability, population density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 and track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migration data better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Sign agreements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with destination countries to protect overseas Filipino workers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a home economy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with enough jobs, so the country relies less on emigration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Critical assessment of the study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Careful methods, but a small sample, weak proxies and missing pull factors.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7177176D-BDB2-4A06-8D6A-33A846E9E0C6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11</a:t>
            </a:fld>
          </a:p>
        </p:txBody>
      </p:sp>
      <p:sp>
        <p:nvSpPr>
          <p:cNvPr id="7" name="Strengths"/>
          <p:cNvSpPr txBox="1"/>
          <p:nvPr/>
        </p:nvSpPr>
        <p:spPr>
          <a:xfrm>
            <a:off x="548640" y="1737360"/>
            <a:ext cx="4788611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Strengths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Important question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a country that sends many workers abroad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Careful steps: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unit root tests, cointegration tests, then the ECM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diagnostic tests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reported and passed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Clear policy background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(RA 8042)</a:t>
            </a:r>
          </a:p>
        </p:txBody>
      </p:sp>
      <p:sp>
        <p:nvSpPr>
          <p:cNvPr id="8" name="Weaknesses"/>
          <p:cNvSpPr txBox="1"/>
          <p:nvPr/>
        </p:nvSpPr>
        <p:spPr>
          <a:xfrm>
            <a:off x="5657291" y="1737360"/>
            <a:ext cx="5985763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Weaknesses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Small sample: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31 yearly observations for 10 explanatory terms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Weak proxies: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airfare for cost of migration; adult literacy for education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Push factors only: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pull factors from destination countries are missing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Conflicting explanation: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“low-skilled migrants” clashes with data the paper cites on professionals leaving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Unclear tests: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per capita income is not stationary in the P–P test; no tests for structural breaks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Limitations and areas for further research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Better data and pull factors are the next steps.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76C71D45-918C-427E-A7CA-2B8F38BBB181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12</a:t>
            </a:fld>
          </a:p>
        </p:txBody>
      </p:sp>
      <p:sp>
        <p:nvSpPr>
          <p:cNvPr id="7" name="Limitations the authors identify box"/>
          <p:cNvSpPr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Limitations the authors identify"/>
          <p:cNvSpPr txBox="1"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Limitations the authors identify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Migration data are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hard to collect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compile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Airfare shows only the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minimum cost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of migration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population density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result is hard to explain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cannot prove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political instability story</a:t>
            </a:r>
          </a:p>
        </p:txBody>
      </p:sp>
      <p:sp>
        <p:nvSpPr>
          <p:cNvPr id="9" name="Future research (my suggestions) box"/>
          <p:cNvSpPr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uture research (my suggestions)"/>
          <p:cNvSpPr txBox="1"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research (my suggestions)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Split the data: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temporary vs. permanent migrants, and by skill level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pull factors: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wages and job demand in destination countries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the data: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go past 2005 and test structural breaks (1997, 2008, COVID-19)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AutoNum type="arabicPeriod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household data: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test human capital theory with survey data on migrants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TAKEAWAY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1417320"/>
            <a:ext cx="10362895" cy="604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3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Push factors at home shape Filipino emigration.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204720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Text"/>
          <p:cNvSpPr txBox="1"/>
          <p:nvPr/>
        </p:nvSpPr>
        <p:spPr>
          <a:xfrm>
            <a:off x="914400" y="2479040"/>
            <a:ext cx="10362895" cy="37388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Unemployment raises emigration;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adult literacy, political instability and population density lower it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 message: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build a home economy with enough jobs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Read with care: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small sample, weak proxies and missing pull factors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Critical review · Agbola and Acupan (2010)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A6100402-FAA3-4B73-ADA2-A4F3A205B4D4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/>
            <a:r>
              <a:rPr sz="4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24247" y="3474720"/>
            <a:ext cx="27432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914400" y="365760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an black and whit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000000"/>
      </a:accent1>
      <a:accent2>
        <a:srgbClr val="595959"/>
      </a:accent2>
      <a:accent3>
        <a:srgbClr val="7F7F7F"/>
      </a:accent3>
      <a:accent4>
        <a:srgbClr val="A6A6A6"/>
      </a:accent4>
      <a:accent5>
        <a:srgbClr val="D9D9D9"/>
      </a:accent5>
      <a:accent6>
        <a:srgbClr val="C00000"/>
      </a:accent6>
      <a:hlink>
        <a:srgbClr val="000000"/>
      </a:hlink>
      <a:folHlink>
        <a:srgbClr val="404040"/>
      </a:folHlink>
    </a:clrScheme>
    <a:fontScheme name="Lian Times New Roman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Lian signature style: deck template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